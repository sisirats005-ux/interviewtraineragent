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1618" y="4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118512118"/>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SISIRA T S</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tl23btai0065@vidyaacademy.ac.in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9995401174</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t>Education / Career Development</a:t>
            </a: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Tile – </a:t>
            </a:r>
            <a:r>
              <a:rPr lang="en-IN" sz="2800" dirty="0"/>
              <a:t>AI Powered Interview Preparation Platform using IBM watsonx.ai, Granite Models and </a:t>
            </a:r>
            <a:r>
              <a:rPr lang="en-IN" sz="2800" dirty="0" err="1"/>
              <a:t>LangFlow</a:t>
            </a:r>
            <a:endParaRPr sz="28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648BD5B3-8C42-9183-11AB-039727F83BF9}"/>
              </a:ext>
            </a:extLst>
          </p:cNvPr>
          <p:cNvPicPr>
            <a:picLocks noChangeAspect="1"/>
          </p:cNvPicPr>
          <p:nvPr/>
        </p:nvPicPr>
        <p:blipFill>
          <a:blip r:embed="rId3"/>
          <a:stretch>
            <a:fillRect/>
          </a:stretch>
        </p:blipFill>
        <p:spPr>
          <a:xfrm>
            <a:off x="4214191" y="3787484"/>
            <a:ext cx="627837" cy="8371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477749" y="135811"/>
            <a:ext cx="10607040" cy="6586378"/>
          </a:xfrm>
          <a:prstGeom prst="rect">
            <a:avLst/>
          </a:prstGeom>
          <a:noFill/>
          <a:ln>
            <a:noFill/>
          </a:ln>
        </p:spPr>
        <p:txBody>
          <a:bodyPr spcFirstLastPara="1" wrap="square" lIns="91425" tIns="45700" rIns="91425" bIns="45700" anchor="t" anchorCtr="0">
            <a:spAutoFit/>
          </a:bodyPr>
          <a:lstStyle/>
          <a:p>
            <a:r>
              <a:rPr lang="en-IN" sz="2800" b="1" dirty="0"/>
              <a:t>Problem Statement: AI Interview Coach Agent</a:t>
            </a:r>
          </a:p>
          <a:p>
            <a:r>
              <a:rPr lang="en-IN" sz="2000" b="1" dirty="0"/>
              <a:t>The Challenge</a:t>
            </a:r>
          </a:p>
          <a:p>
            <a:r>
              <a:rPr lang="en-IN" sz="2000" dirty="0"/>
              <a:t>Students and job seekers often struggle with resume optimization, ATS compatibility, skill gap identification, and interview practice. Existing platforms provide generic questions without considering the candidate's resume, target role, or performance, making interview preparation less effective.</a:t>
            </a:r>
          </a:p>
          <a:p>
            <a:r>
              <a:rPr lang="en-IN" sz="2000" b="1" dirty="0"/>
              <a:t>The Objective</a:t>
            </a:r>
          </a:p>
          <a:p>
            <a:r>
              <a:rPr lang="en-IN" sz="2000" dirty="0"/>
              <a:t>Build an </a:t>
            </a:r>
            <a:r>
              <a:rPr lang="en-IN" sz="2000" b="1" dirty="0"/>
              <a:t>AI-powered Interview Coach Agent</a:t>
            </a:r>
            <a:r>
              <a:rPr lang="en-IN" sz="2000" dirty="0"/>
              <a:t> that provides personalized interview preparation through:</a:t>
            </a:r>
          </a:p>
          <a:p>
            <a:r>
              <a:rPr lang="en-IN" sz="2000" dirty="0"/>
              <a:t>• Resume Analysis &amp; ATS Scoring</a:t>
            </a:r>
          </a:p>
          <a:p>
            <a:r>
              <a:rPr lang="en-IN" sz="2000" dirty="0"/>
              <a:t>• RAG-based retrieval of role-specific interview content</a:t>
            </a:r>
          </a:p>
          <a:p>
            <a:r>
              <a:rPr lang="en-IN" sz="2000" dirty="0"/>
              <a:t>• AI-powered technical and </a:t>
            </a:r>
            <a:r>
              <a:rPr lang="en-IN" sz="2000" dirty="0" err="1"/>
              <a:t>behavioral</a:t>
            </a:r>
            <a:r>
              <a:rPr lang="en-IN" sz="2000" dirty="0"/>
              <a:t> mock interviews</a:t>
            </a:r>
          </a:p>
          <a:p>
            <a:r>
              <a:rPr lang="en-IN" sz="2000" dirty="0"/>
              <a:t>• Personalized learning roadmap with recommended resources</a:t>
            </a:r>
          </a:p>
          <a:p>
            <a:r>
              <a:rPr lang="en-IN" sz="2000" dirty="0"/>
              <a:t>• </a:t>
            </a:r>
            <a:r>
              <a:rPr lang="en-IN" sz="2000" b="1" dirty="0"/>
              <a:t>Multi-Agent System</a:t>
            </a:r>
            <a:endParaRPr lang="en-IN" sz="2000" dirty="0"/>
          </a:p>
          <a:p>
            <a:r>
              <a:rPr lang="en-IN" sz="2000" dirty="0"/>
              <a:t>Resume Analysis Agent </a:t>
            </a:r>
          </a:p>
          <a:p>
            <a:r>
              <a:rPr lang="en-IN" sz="2000" dirty="0"/>
              <a:t>Career Match Agent </a:t>
            </a:r>
          </a:p>
          <a:p>
            <a:r>
              <a:rPr lang="en-IN" sz="2000" dirty="0"/>
              <a:t>Interview Coach Agent </a:t>
            </a:r>
          </a:p>
          <a:p>
            <a:r>
              <a:rPr lang="en-IN" sz="2000" dirty="0"/>
              <a:t>Evaluation Agent </a:t>
            </a:r>
          </a:p>
          <a:p>
            <a:r>
              <a:rPr lang="en-IN" sz="2000" dirty="0"/>
              <a:t>Learning Plan Agent </a:t>
            </a:r>
          </a:p>
          <a:p>
            <a:r>
              <a:rPr lang="en-IN" sz="2000" dirty="0"/>
              <a:t>• Analytics dashboard for ATS score, readiness, skill gaps, and progress tracking.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275383" y="235626"/>
            <a:ext cx="10607040" cy="6401712"/>
          </a:xfrm>
          <a:prstGeom prst="rect">
            <a:avLst/>
          </a:prstGeom>
          <a:noFill/>
          <a:ln>
            <a:noFill/>
          </a:ln>
        </p:spPr>
        <p:txBody>
          <a:bodyPr spcFirstLastPara="1" wrap="square" lIns="91425" tIns="45700" rIns="91425" bIns="45700" anchor="t" anchorCtr="0">
            <a:spAutoFit/>
          </a:bodyPr>
          <a:lstStyle/>
          <a:p>
            <a:r>
              <a:rPr lang="en-IN" sz="2800" b="1" dirty="0"/>
              <a:t>Proposed Solution: AI-Powered Interview Coach Agent</a:t>
            </a:r>
          </a:p>
          <a:p>
            <a:endParaRPr lang="en-IN" sz="2800" b="1" dirty="0"/>
          </a:p>
          <a:p>
            <a:r>
              <a:rPr lang="en-IN" sz="2000" dirty="0"/>
              <a:t>The proposed solution is a </a:t>
            </a:r>
            <a:r>
              <a:rPr lang="en-IN" sz="2000" b="1" dirty="0"/>
              <a:t>multi-agent AI-powered Interview Coach Agent</a:t>
            </a:r>
            <a:r>
              <a:rPr lang="en-IN" sz="2000" dirty="0"/>
              <a:t> built using </a:t>
            </a:r>
            <a:r>
              <a:rPr lang="en-IN" sz="2000" b="1" dirty="0" err="1"/>
              <a:t>LangFlow</a:t>
            </a:r>
            <a:r>
              <a:rPr lang="en-IN" sz="2000" b="1" dirty="0"/>
              <a:t>, IBM watsonx.ai, IBM Granite Models, and RAG</a:t>
            </a:r>
            <a:r>
              <a:rPr lang="en-IN" sz="2000" dirty="0"/>
              <a:t> to provide personalized interview preparation.</a:t>
            </a:r>
          </a:p>
          <a:p>
            <a:r>
              <a:rPr lang="en-IN" sz="2000" dirty="0"/>
              <a:t>The system uses a </a:t>
            </a:r>
            <a:r>
              <a:rPr lang="en-IN" sz="2000" b="1" dirty="0"/>
              <a:t>RAG pipeline</a:t>
            </a:r>
            <a:r>
              <a:rPr lang="en-IN" sz="2000" dirty="0"/>
              <a:t> to retrieve interview questions, company information, and learning resources from trusted knowledge sources through a vector database.</a:t>
            </a:r>
          </a:p>
          <a:p>
            <a:r>
              <a:rPr lang="en-IN" sz="2000" dirty="0"/>
              <a:t>The system consists of five key agents:</a:t>
            </a:r>
          </a:p>
          <a:p>
            <a:r>
              <a:rPr lang="en-IN" sz="2000" b="1" dirty="0"/>
              <a:t>Resume Analysis Agent</a:t>
            </a:r>
            <a:r>
              <a:rPr lang="en-IN" sz="2000" dirty="0"/>
              <a:t> – </a:t>
            </a:r>
            <a:r>
              <a:rPr lang="en-IN" sz="2000" dirty="0" err="1"/>
              <a:t>Analyzes</a:t>
            </a:r>
            <a:r>
              <a:rPr lang="en-IN" sz="2000" dirty="0"/>
              <a:t> resumes and calculates ATS score.</a:t>
            </a:r>
          </a:p>
          <a:p>
            <a:r>
              <a:rPr lang="en-IN" sz="2000" b="1" dirty="0"/>
              <a:t>Career Match Agent</a:t>
            </a:r>
            <a:r>
              <a:rPr lang="en-IN" sz="2000" dirty="0"/>
              <a:t> – Matches skills with job requirements.</a:t>
            </a:r>
          </a:p>
          <a:p>
            <a:r>
              <a:rPr lang="en-IN" sz="2000" b="1" dirty="0"/>
              <a:t>Interview Coach Agent</a:t>
            </a:r>
            <a:r>
              <a:rPr lang="en-IN" sz="2000" dirty="0"/>
              <a:t> – Generates personalized technical and HR interview questions.</a:t>
            </a:r>
          </a:p>
          <a:p>
            <a:r>
              <a:rPr lang="en-IN" sz="2000" b="1" dirty="0"/>
              <a:t>Evaluation Agent</a:t>
            </a:r>
            <a:r>
              <a:rPr lang="en-IN" sz="2000" dirty="0"/>
              <a:t> – Evaluates answers and provides feedback.</a:t>
            </a:r>
          </a:p>
          <a:p>
            <a:r>
              <a:rPr lang="en-IN" sz="2000" b="1" dirty="0"/>
              <a:t>Learning Plan Agent</a:t>
            </a:r>
            <a:r>
              <a:rPr lang="en-IN" sz="2000" dirty="0"/>
              <a:t> – Recommends personalized learning roadmaps.</a:t>
            </a:r>
          </a:p>
          <a:p>
            <a:r>
              <a:rPr lang="en-IN" sz="2000" dirty="0"/>
              <a:t>The solution includes an </a:t>
            </a:r>
            <a:r>
              <a:rPr lang="en-IN" sz="2000" b="1" dirty="0"/>
              <a:t>interactive dashboard</a:t>
            </a:r>
            <a:r>
              <a:rPr lang="en-IN" sz="2000" dirty="0"/>
              <a:t> to track ATS score, interview performance, skill gaps, and learning progress.</a:t>
            </a:r>
          </a:p>
          <a:p>
            <a:r>
              <a:rPr lang="en-IN" sz="2000" b="1" dirty="0" err="1"/>
              <a:t>LangFlow</a:t>
            </a:r>
            <a:r>
              <a:rPr lang="en-IN" sz="2000" dirty="0"/>
              <a:t> manages the agent workflow, while </a:t>
            </a:r>
            <a:r>
              <a:rPr lang="en-IN" sz="2000" b="1" dirty="0"/>
              <a:t>IBM watsonx.ai</a:t>
            </a:r>
            <a:r>
              <a:rPr lang="en-IN" sz="2000" dirty="0"/>
              <a:t> and </a:t>
            </a:r>
            <a:r>
              <a:rPr lang="en-IN" sz="2000" b="1" dirty="0"/>
              <a:t>Granite Models</a:t>
            </a:r>
            <a:r>
              <a:rPr lang="en-IN" sz="2000" dirty="0"/>
              <a:t> power reasoning, evaluation, and personalized recommendations.</a:t>
            </a:r>
          </a:p>
          <a:p>
            <a:r>
              <a:rPr lang="en-IN" sz="2000" dirty="0"/>
              <a:t>Overall, the solution provides an intelligent interview preparation platform that improves confidence and placement readiness.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8" name="Google Shape;108;p36"/>
          <p:cNvSpPr txBox="1"/>
          <p:nvPr/>
        </p:nvSpPr>
        <p:spPr>
          <a:xfrm>
            <a:off x="584735" y="761235"/>
            <a:ext cx="10515600" cy="5355272"/>
          </a:xfrm>
          <a:prstGeom prst="rect">
            <a:avLst/>
          </a:prstGeom>
          <a:noFill/>
          <a:ln>
            <a:noFill/>
          </a:ln>
        </p:spPr>
        <p:txBody>
          <a:bodyPr spcFirstLastPara="1" wrap="square" lIns="91425" tIns="45700" rIns="91425" bIns="45700" anchor="t" anchorCtr="0">
            <a:spAutoFit/>
          </a:bodyPr>
          <a:lstStyle/>
          <a:p>
            <a:r>
              <a:rPr lang="en-IN" sz="2800" b="1" dirty="0"/>
              <a:t>Technology Used</a:t>
            </a:r>
          </a:p>
          <a:p>
            <a:endParaRPr lang="en-IN" sz="2800" b="1" dirty="0"/>
          </a:p>
          <a:p>
            <a:r>
              <a:rPr lang="en-IN" sz="2000" b="1" dirty="0" err="1"/>
              <a:t>LangFlow</a:t>
            </a:r>
            <a:r>
              <a:rPr lang="en-IN" sz="2000" b="1" dirty="0"/>
              <a:t> Platform</a:t>
            </a:r>
            <a:r>
              <a:rPr lang="en-IN" sz="2000" dirty="0"/>
              <a:t> – For designing and orchestrating the multi-agent interview workflow visually.</a:t>
            </a:r>
          </a:p>
          <a:p>
            <a:r>
              <a:rPr lang="en-IN" sz="2000" b="1" dirty="0"/>
              <a:t>IBM Granite 4 Model (</a:t>
            </a:r>
            <a:r>
              <a:rPr lang="en-IN" sz="2000" b="1" dirty="0" err="1"/>
              <a:t>ibm</a:t>
            </a:r>
            <a:r>
              <a:rPr lang="en-IN" sz="2000" b="1" dirty="0"/>
              <a:t>/granite-4-h-small)</a:t>
            </a:r>
            <a:r>
              <a:rPr lang="en-IN" sz="2000" dirty="0"/>
              <a:t> – For resume analysis, interview question generation, answer evaluation, and personalized feedback.</a:t>
            </a:r>
          </a:p>
          <a:p>
            <a:r>
              <a:rPr lang="en-IN" sz="2000" b="1" dirty="0"/>
              <a:t>IBM watsonx.ai</a:t>
            </a:r>
            <a:r>
              <a:rPr lang="en-IN" sz="2000" dirty="0"/>
              <a:t> – For deploying Granite models, prompt execution, inference, and AI governance.</a:t>
            </a:r>
          </a:p>
          <a:p>
            <a:r>
              <a:rPr lang="en-IN" sz="2000" b="1" dirty="0"/>
              <a:t>RAG (Retrieval-Augmented Generation)</a:t>
            </a:r>
            <a:r>
              <a:rPr lang="en-IN" sz="2000" dirty="0"/>
              <a:t> – Retrieves interview questions, company-specific knowledge, and learning resources before generating responses.</a:t>
            </a:r>
          </a:p>
          <a:p>
            <a:r>
              <a:rPr lang="en-IN" sz="2000" b="1" dirty="0"/>
              <a:t>Vector Database (FAISS)</a:t>
            </a:r>
            <a:r>
              <a:rPr lang="en-IN" sz="2000" dirty="0"/>
              <a:t> – Stores document embeddings and enables fast RAG-based retrieval from the interview knowledge base.</a:t>
            </a:r>
          </a:p>
          <a:p>
            <a:r>
              <a:rPr lang="en-IN" sz="2000" b="1" dirty="0"/>
              <a:t>Flask Framework</a:t>
            </a:r>
            <a:r>
              <a:rPr lang="en-IN" sz="2000" dirty="0"/>
              <a:t> – Provides the backend APIs, session management, and web application functionality.</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162082"/>
            <a:ext cx="8823960" cy="4924385"/>
          </a:xfrm>
          <a:prstGeom prst="rect">
            <a:avLst/>
          </a:prstGeom>
          <a:noFill/>
          <a:ln>
            <a:noFill/>
          </a:ln>
        </p:spPr>
        <p:txBody>
          <a:bodyPr spcFirstLastPara="1" wrap="square" lIns="91425" tIns="45700" rIns="91425" bIns="45700" anchor="t" anchorCtr="0">
            <a:spAutoFit/>
          </a:bodyPr>
          <a:lstStyle/>
          <a:p>
            <a:r>
              <a:rPr lang="en-IN" sz="2000" b="1" dirty="0"/>
              <a:t>1) Chat Input</a:t>
            </a:r>
            <a:r>
              <a:rPr lang="en-IN" sz="2000" dirty="0"/>
              <a:t> – Interface where users upload resumes, enter interview queries, or select target job roles.</a:t>
            </a:r>
          </a:p>
          <a:p>
            <a:r>
              <a:rPr lang="en-IN" sz="2000" b="1" dirty="0"/>
              <a:t>2) IBM </a:t>
            </a:r>
            <a:r>
              <a:rPr lang="en-IN" sz="2000" b="1" dirty="0" err="1"/>
              <a:t>watsonx</a:t>
            </a:r>
            <a:r>
              <a:rPr lang="en-IN" sz="2000" b="1" dirty="0"/>
              <a:t> AI Agent</a:t>
            </a:r>
            <a:r>
              <a:rPr lang="en-IN" sz="2000" dirty="0"/>
              <a:t> – Processes user requests using IBM Granite models to generate interview questions, evaluate answers, and provide personalized guidance.</a:t>
            </a:r>
          </a:p>
          <a:p>
            <a:r>
              <a:rPr lang="en-IN" sz="2000" b="1" dirty="0"/>
              <a:t>3) IBM Granite Model</a:t>
            </a:r>
            <a:r>
              <a:rPr lang="en-IN" sz="2000" dirty="0"/>
              <a:t> – </a:t>
            </a:r>
            <a:r>
              <a:rPr lang="en-IN" sz="2000" b="1" dirty="0"/>
              <a:t>Granite-4.1-8B-Instruct</a:t>
            </a:r>
            <a:r>
              <a:rPr lang="en-IN" sz="2000" dirty="0"/>
              <a:t> → Used for resume analysis, interview question generation, response evaluation, and career recommendations.</a:t>
            </a:r>
          </a:p>
          <a:p>
            <a:r>
              <a:rPr lang="en-IN" sz="2000" b="1" dirty="0"/>
              <a:t>4) Chat Output</a:t>
            </a:r>
            <a:r>
              <a:rPr lang="en-IN" sz="2000" dirty="0"/>
              <a:t> – Displays AI-generated interview questions, evaluation scores, ATS analysis, feedback, and learning plans.</a:t>
            </a:r>
          </a:p>
          <a:p>
            <a:r>
              <a:rPr lang="en-IN" sz="2000" b="1" dirty="0"/>
              <a:t>5) File Component</a:t>
            </a:r>
            <a:r>
              <a:rPr lang="en-IN" sz="2000" dirty="0"/>
              <a:t> – Stores and retrieves resumes, interview knowledge documents, and learning resources for RAG-based retrieval.</a:t>
            </a:r>
          </a:p>
          <a:p>
            <a:r>
              <a:rPr lang="en-IN" sz="2000" b="1" dirty="0"/>
              <a:t>6) FAISS Vector Store (Retriever)</a:t>
            </a:r>
            <a:r>
              <a:rPr lang="en-IN" sz="2000" dirty="0"/>
              <a:t> – Stores embeddings of resumes and interview knowledge, enabling fast and accurate Retrieval-Augmented Generation (RAG).</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488429" y="195420"/>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Workflow of AI Interview Trainer Agent</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C6E87ED-E463-40D4-4F68-69F860CD3EE0}"/>
              </a:ext>
            </a:extLst>
          </p:cNvPr>
          <p:cNvPicPr>
            <a:picLocks noChangeAspect="1"/>
          </p:cNvPicPr>
          <p:nvPr/>
        </p:nvPicPr>
        <p:blipFill>
          <a:blip r:embed="rId3"/>
          <a:stretch>
            <a:fillRect/>
          </a:stretch>
        </p:blipFill>
        <p:spPr>
          <a:xfrm>
            <a:off x="3319007" y="643928"/>
            <a:ext cx="3143735" cy="60862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lang="en-US"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BEA6DEFB-8E41-FC4F-6780-615CBECA00D5}"/>
              </a:ext>
            </a:extLst>
          </p:cNvPr>
          <p:cNvPicPr>
            <a:picLocks noChangeAspect="1"/>
          </p:cNvPicPr>
          <p:nvPr/>
        </p:nvPicPr>
        <p:blipFill>
          <a:blip r:embed="rId3"/>
          <a:stretch>
            <a:fillRect/>
          </a:stretch>
        </p:blipFill>
        <p:spPr>
          <a:xfrm>
            <a:off x="1544320" y="873760"/>
            <a:ext cx="8229296" cy="58702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endParaRPr sz="32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475488" y="1010286"/>
            <a:ext cx="11146241" cy="5232161"/>
          </a:xfrm>
          <a:prstGeom prst="rect">
            <a:avLst/>
          </a:prstGeom>
          <a:noFill/>
          <a:ln>
            <a:noFill/>
          </a:ln>
        </p:spPr>
        <p:txBody>
          <a:bodyPr spcFirstLastPara="1" wrap="square" lIns="91425" tIns="45700" rIns="91425" bIns="45700" anchor="t" anchorCtr="0">
            <a:spAutoFit/>
          </a:bodyPr>
          <a:lstStyle/>
          <a:p>
            <a:r>
              <a:rPr lang="en-IN" sz="2000" b="1" dirty="0"/>
              <a:t>Role of Agentic AI in Interview Coach Agent</a:t>
            </a:r>
            <a:endParaRPr lang="en-IN" sz="2000" dirty="0"/>
          </a:p>
          <a:p>
            <a:r>
              <a:rPr lang="en-IN" sz="2000" dirty="0"/>
              <a:t>Agentic AI enables the Interview Coach Agent to function as an intelligent, autonomous system rather than a simple chatbot. Using </a:t>
            </a:r>
            <a:r>
              <a:rPr lang="en-IN" sz="2000" b="1" dirty="0"/>
              <a:t>IBM watsonx.ai</a:t>
            </a:r>
            <a:r>
              <a:rPr lang="en-IN" sz="2000" dirty="0"/>
              <a:t> and </a:t>
            </a:r>
            <a:r>
              <a:rPr lang="en-IN" sz="2000" b="1" dirty="0"/>
              <a:t>IBM Granite models</a:t>
            </a:r>
            <a:r>
              <a:rPr lang="en-IN" sz="2000" dirty="0"/>
              <a:t>, it coordinates multiple specialized agents to deliver personalized interview preparation and career guidance.</a:t>
            </a:r>
          </a:p>
          <a:p>
            <a:r>
              <a:rPr lang="en-IN" sz="2000" dirty="0"/>
              <a:t>Each agent performs a specific role, such as </a:t>
            </a:r>
            <a:r>
              <a:rPr lang="en-IN" sz="2000" dirty="0" err="1"/>
              <a:t>analyzing</a:t>
            </a:r>
            <a:r>
              <a:rPr lang="en-IN" sz="2000" dirty="0"/>
              <a:t> resumes, matching candidate skills with job requirements, generating interview questions, evaluating responses, and creating personalized learning plans. This multi-agent approach ensures efficient task execution and accurate results.</a:t>
            </a:r>
          </a:p>
          <a:p>
            <a:r>
              <a:rPr lang="en-IN" sz="2000" dirty="0"/>
              <a:t>Agentic AI also provides context awareness by understanding the candidate's resume, target job role, experience, and skill level to generate tailored recommendations. It continuously adapts interview questions and learning plans based on user performance and feedback.</a:t>
            </a:r>
          </a:p>
          <a:p>
            <a:r>
              <a:rPr lang="en-IN" sz="2000" dirty="0"/>
              <a:t>Additionally, agents collaborate with each other to improve decision-making and provide a complete interview preparation experience.</a:t>
            </a:r>
          </a:p>
          <a:p>
            <a:r>
              <a:rPr lang="en-IN" sz="2000" dirty="0"/>
              <a:t>Overall, Agentic AI makes the system proactive, personalized, and goal-driven, acting as an intelligent AI interview coach that helps users improve confidence, develop skills, and increase placement readiness.</a:t>
            </a:r>
          </a:p>
          <a:p>
            <a:pPr marL="0" marR="0" lvl="0" indent="0" algn="l" rtl="0">
              <a:lnSpc>
                <a:spcPct val="100000"/>
              </a:lnSpc>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1" y="341560"/>
            <a:ext cx="8854391" cy="704017"/>
          </a:xfrm>
          <a:prstGeom prst="rect">
            <a:avLst/>
          </a:prstGeom>
          <a:noFill/>
          <a:ln>
            <a:noFill/>
          </a:ln>
        </p:spPr>
        <p:txBody>
          <a:bodyPr spcFirstLastPara="1" wrap="square" lIns="0" tIns="0" rIns="0" bIns="0" anchor="t" anchorCtr="0">
            <a:noAutofit/>
          </a:bodyPr>
          <a:lstStyle/>
          <a:p>
            <a:pPr lvl="0">
              <a:lnSpc>
                <a:spcPct val="157142"/>
              </a:lnSpc>
            </a:pPr>
            <a:r>
              <a:rPr lang="en-IN" sz="2800" b="1" dirty="0"/>
              <a:t>IBM Granite AI Prompt Execution &amp; Results</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F0785CF-32CE-6333-D8D5-701CBB611F75}"/>
              </a:ext>
            </a:extLst>
          </p:cNvPr>
          <p:cNvPicPr>
            <a:picLocks noChangeAspect="1"/>
          </p:cNvPicPr>
          <p:nvPr/>
        </p:nvPicPr>
        <p:blipFill>
          <a:blip r:embed="rId3"/>
          <a:stretch>
            <a:fillRect/>
          </a:stretch>
        </p:blipFill>
        <p:spPr>
          <a:xfrm>
            <a:off x="827587" y="936900"/>
            <a:ext cx="4725315" cy="2288715"/>
          </a:xfrm>
          <a:prstGeom prst="rect">
            <a:avLst/>
          </a:prstGeom>
        </p:spPr>
      </p:pic>
      <p:pic>
        <p:nvPicPr>
          <p:cNvPr id="9" name="Picture 8">
            <a:extLst>
              <a:ext uri="{FF2B5EF4-FFF2-40B4-BE49-F238E27FC236}">
                <a16:creationId xmlns:a16="http://schemas.microsoft.com/office/drawing/2014/main" id="{EAA1B393-ACD7-9269-03E9-708F1101E6BF}"/>
              </a:ext>
            </a:extLst>
          </p:cNvPr>
          <p:cNvPicPr>
            <a:picLocks noChangeAspect="1"/>
          </p:cNvPicPr>
          <p:nvPr/>
        </p:nvPicPr>
        <p:blipFill>
          <a:blip r:embed="rId4"/>
          <a:stretch>
            <a:fillRect/>
          </a:stretch>
        </p:blipFill>
        <p:spPr>
          <a:xfrm>
            <a:off x="827587" y="3522614"/>
            <a:ext cx="4725315" cy="2993826"/>
          </a:xfrm>
          <a:prstGeom prst="rect">
            <a:avLst/>
          </a:prstGeom>
        </p:spPr>
      </p:pic>
      <p:pic>
        <p:nvPicPr>
          <p:cNvPr id="11" name="Picture 10">
            <a:extLst>
              <a:ext uri="{FF2B5EF4-FFF2-40B4-BE49-F238E27FC236}">
                <a16:creationId xmlns:a16="http://schemas.microsoft.com/office/drawing/2014/main" id="{F58FCB37-4A3F-61E1-D497-41E51C97DCC0}"/>
              </a:ext>
            </a:extLst>
          </p:cNvPr>
          <p:cNvPicPr>
            <a:picLocks noChangeAspect="1"/>
          </p:cNvPicPr>
          <p:nvPr/>
        </p:nvPicPr>
        <p:blipFill>
          <a:blip r:embed="rId5"/>
          <a:stretch>
            <a:fillRect/>
          </a:stretch>
        </p:blipFill>
        <p:spPr>
          <a:xfrm>
            <a:off x="5907139" y="952803"/>
            <a:ext cx="4725315" cy="2288715"/>
          </a:xfrm>
          <a:prstGeom prst="rect">
            <a:avLst/>
          </a:prstGeom>
        </p:spPr>
      </p:pic>
      <p:pic>
        <p:nvPicPr>
          <p:cNvPr id="15" name="Picture 14">
            <a:extLst>
              <a:ext uri="{FF2B5EF4-FFF2-40B4-BE49-F238E27FC236}">
                <a16:creationId xmlns:a16="http://schemas.microsoft.com/office/drawing/2014/main" id="{BD3DF6CA-D390-4C7D-DF5B-88AE3D01128C}"/>
              </a:ext>
            </a:extLst>
          </p:cNvPr>
          <p:cNvPicPr>
            <a:picLocks noChangeAspect="1"/>
          </p:cNvPicPr>
          <p:nvPr/>
        </p:nvPicPr>
        <p:blipFill>
          <a:blip r:embed="rId6"/>
          <a:stretch>
            <a:fillRect/>
          </a:stretch>
        </p:blipFill>
        <p:spPr>
          <a:xfrm>
            <a:off x="5907139" y="3522614"/>
            <a:ext cx="4725315" cy="299382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600777" y="1010286"/>
            <a:ext cx="11301984" cy="5847714"/>
          </a:xfrm>
          <a:prstGeom prst="rect">
            <a:avLst/>
          </a:prstGeom>
          <a:noFill/>
          <a:ln>
            <a:noFill/>
          </a:ln>
        </p:spPr>
        <p:txBody>
          <a:bodyPr spcFirstLastPara="1" wrap="square" lIns="91425" tIns="45700" rIns="91425" bIns="45700" anchor="t" anchorCtr="0">
            <a:spAutoFit/>
          </a:bodyPr>
          <a:lstStyle/>
          <a:p>
            <a:r>
              <a:rPr lang="en-IN" sz="2000" dirty="0"/>
              <a:t>The proposed </a:t>
            </a:r>
            <a:r>
              <a:rPr lang="en-IN" sz="2000" b="1" dirty="0"/>
              <a:t>Interview Coach Agent</a:t>
            </a:r>
            <a:r>
              <a:rPr lang="en-IN" sz="2000" dirty="0"/>
              <a:t> stands out by combining </a:t>
            </a:r>
            <a:r>
              <a:rPr lang="en-IN" sz="2000" b="1" dirty="0"/>
              <a:t>Agentic AI, RAG, and personalized interview preparation</a:t>
            </a:r>
            <a:r>
              <a:rPr lang="en-IN" sz="2000" dirty="0"/>
              <a:t> into a single intelligent platform.</a:t>
            </a:r>
          </a:p>
          <a:p>
            <a:r>
              <a:rPr lang="en-IN" sz="2000" b="1" dirty="0"/>
              <a:t>Multi-Agent Intelligence</a:t>
            </a:r>
            <a:r>
              <a:rPr lang="en-IN" sz="2000" dirty="0"/>
              <a:t> – Specialized agents collaborate for resume analysis, interview generation, evaluation, and learning guidance.</a:t>
            </a:r>
          </a:p>
          <a:p>
            <a:r>
              <a:rPr lang="en-IN" sz="2000" b="1" dirty="0"/>
              <a:t>RAG-Based Accuracy</a:t>
            </a:r>
            <a:r>
              <a:rPr lang="en-IN" sz="2000" dirty="0"/>
              <a:t> – Retrieves role-specific interview questions and learning resources before generating AI responses.</a:t>
            </a:r>
          </a:p>
          <a:p>
            <a:r>
              <a:rPr lang="en-IN" sz="2000" b="1" dirty="0"/>
              <a:t>Personalized Interview Preparation</a:t>
            </a:r>
            <a:r>
              <a:rPr lang="en-IN" sz="2000" dirty="0"/>
              <a:t> – Adapts questions, feedback, and learning plans based on the candidate's resume, skills, and target job role.</a:t>
            </a:r>
          </a:p>
          <a:p>
            <a:r>
              <a:rPr lang="en-IN" sz="2000" b="1" dirty="0"/>
              <a:t>Real-Time Performance Evaluation</a:t>
            </a:r>
            <a:r>
              <a:rPr lang="en-IN" sz="2000" dirty="0"/>
              <a:t> – Instantly </a:t>
            </a:r>
            <a:r>
              <a:rPr lang="en-IN" sz="2000" dirty="0" err="1"/>
              <a:t>analyzes</a:t>
            </a:r>
            <a:r>
              <a:rPr lang="en-IN" sz="2000" dirty="0"/>
              <a:t> responses and provides scores with improvement suggestions.</a:t>
            </a:r>
          </a:p>
          <a:p>
            <a:r>
              <a:rPr lang="en-IN" sz="2000" b="1" dirty="0"/>
              <a:t>ATS Resume Analysis</a:t>
            </a:r>
            <a:r>
              <a:rPr lang="en-IN" sz="2000" dirty="0"/>
              <a:t> – Evaluates resume compatibility and recommends optimizations for better recruitment success.</a:t>
            </a:r>
          </a:p>
          <a:p>
            <a:r>
              <a:rPr lang="en-IN" sz="2000" b="1" dirty="0"/>
              <a:t>Interactive Analytics Dashboard</a:t>
            </a:r>
            <a:r>
              <a:rPr lang="en-IN" sz="2000" dirty="0"/>
              <a:t> – Tracks ATS score, interview readiness, skill gaps, and learning progress.</a:t>
            </a:r>
          </a:p>
          <a:p>
            <a:r>
              <a:rPr lang="en-IN" sz="2000" b="1" dirty="0"/>
              <a:t>Scalable &amp; Enterprise-Ready</a:t>
            </a:r>
            <a:r>
              <a:rPr lang="en-IN" sz="2000" dirty="0"/>
              <a:t> – Built using </a:t>
            </a:r>
            <a:r>
              <a:rPr lang="en-IN" sz="2000" b="1" dirty="0"/>
              <a:t>IBM watsonx.ai</a:t>
            </a:r>
            <a:r>
              <a:rPr lang="en-IN" sz="2000" dirty="0"/>
              <a:t>, </a:t>
            </a:r>
            <a:r>
              <a:rPr lang="en-IN" sz="2000" b="1" dirty="0"/>
              <a:t>IBM Granite Models</a:t>
            </a:r>
            <a:r>
              <a:rPr lang="en-IN" sz="2000" dirty="0"/>
              <a:t>, and </a:t>
            </a:r>
            <a:r>
              <a:rPr lang="en-IN" sz="2000" b="1" dirty="0" err="1"/>
              <a:t>LangFlow</a:t>
            </a:r>
            <a:r>
              <a:rPr lang="en-IN" sz="2000" dirty="0"/>
              <a:t> for reliable, secure, and scalable AI deployment.</a:t>
            </a:r>
          </a:p>
          <a:p>
            <a:r>
              <a:rPr lang="en-IN" sz="2000" dirty="0"/>
              <a:t>This makes the solution an intelligent, adaptive, and proactive AI interview coach, rather than a traditional interview practice platform.</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r>
              <a:rPr lang="en-IN" sz="2000" b="1" dirty="0"/>
              <a:t>Repository Name: </a:t>
            </a:r>
            <a:r>
              <a:rPr lang="en-IN" sz="2000" dirty="0" err="1"/>
              <a:t>InterviewTrainerAgent</a:t>
            </a:r>
            <a:endParaRPr lang="en-IN" sz="2000" dirty="0"/>
          </a:p>
          <a:p>
            <a:r>
              <a:rPr lang="en-IN" sz="2000" b="1" dirty="0"/>
              <a:t>Repository URL:</a:t>
            </a:r>
          </a:p>
          <a:p>
            <a:r>
              <a:rPr lang="en-IN" sz="2000" dirty="0"/>
              <a:t>https://github.com/sisirats005-ux/InterviewTrainerAgent</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 </a:t>
            </a:r>
            <a:endParaRPr sz="2400" b="1" i="0" u="none" strike="noStrike" cap="none" dirty="0">
              <a:solidFill>
                <a:srgbClr val="000000"/>
              </a:solidFill>
              <a:latin typeface="Arial"/>
              <a:ea typeface="Arial"/>
              <a:cs typeface="Arial"/>
              <a:sym typeface="Arial"/>
            </a:endParaRPr>
          </a:p>
        </p:txBody>
      </p:sp>
      <p:sp>
        <p:nvSpPr>
          <p:cNvPr id="173" name="Google Shape;173;p42"/>
          <p:cNvSpPr/>
          <p:nvPr/>
        </p:nvSpPr>
        <p:spPr>
          <a:xfrm>
            <a:off x="529389" y="1221715"/>
            <a:ext cx="11277600" cy="4277001"/>
          </a:xfrm>
          <a:prstGeom prst="rect">
            <a:avLst/>
          </a:prstGeom>
          <a:noFill/>
          <a:ln>
            <a:noFill/>
          </a:ln>
        </p:spPr>
        <p:txBody>
          <a:bodyPr spcFirstLastPara="1" wrap="square" lIns="0" tIns="0" rIns="0" bIns="0" anchor="t" anchorCtr="0">
            <a:noAutofit/>
          </a:bodyPr>
          <a:lstStyle/>
          <a:p>
            <a:r>
              <a:rPr lang="en-IN" sz="2800" b="1" dirty="0"/>
              <a:t>Future Scope</a:t>
            </a:r>
          </a:p>
          <a:p>
            <a:endParaRPr lang="en-IN" sz="2800" b="1" dirty="0"/>
          </a:p>
          <a:p>
            <a:r>
              <a:rPr lang="en-IN" sz="2000" b="1" dirty="0"/>
              <a:t>AI Voice Interview &amp; Video Assessment</a:t>
            </a:r>
            <a:br>
              <a:rPr lang="en-IN" sz="2000" dirty="0"/>
            </a:br>
            <a:r>
              <a:rPr lang="en-IN" sz="2000" dirty="0"/>
              <a:t>The system can be enhanced with AI-powered voice and video interviews to evaluate communication skills, confidence, pronunciation, facial expressions, and body language. This will provide users with a realistic interview experience and more comprehensive performance feedback.</a:t>
            </a:r>
          </a:p>
          <a:p>
            <a:endParaRPr lang="en-IN" sz="2000" dirty="0"/>
          </a:p>
          <a:p>
            <a:r>
              <a:rPr lang="en-IN" sz="2000" b="1" dirty="0"/>
              <a:t>Company-Specific Interview Preparation &amp; Career Guidance</a:t>
            </a:r>
            <a:br>
              <a:rPr lang="en-IN" sz="2000" dirty="0"/>
            </a:br>
            <a:r>
              <a:rPr lang="en-IN" sz="2000" dirty="0"/>
              <a:t>The platform can be expanded to support company-specific interview preparation for organizations such as IBM, Google, Microsoft, and Amazon. It can also recommend personalized learning resources, certification paths, and career roadmaps based on the user's skills, target role, and interview performance.</a:t>
            </a:r>
          </a:p>
          <a:p>
            <a:pPr marL="0" marR="0" lvl="0" indent="0" algn="l" rtl="0">
              <a:lnSpc>
                <a:spcPct val="162162"/>
              </a:lnSpc>
              <a:spcBef>
                <a:spcPts val="0"/>
              </a:spcBef>
              <a:spcAft>
                <a:spcPts val="0"/>
              </a:spcAft>
              <a:buClr>
                <a:srgbClr val="2B3541"/>
              </a:buClr>
              <a:buSzPts val="1850"/>
              <a:buFont typeface="Times New Roman"/>
              <a:buNone/>
            </a:pPr>
            <a:r>
              <a:rPr lang="en-IN" sz="1850" b="0" i="0" u="none" strike="noStrike" cap="none" dirty="0">
                <a:solidFill>
                  <a:srgbClr val="000000"/>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a:solidFill>
                  <a:srgbClr val="000000"/>
                </a:solidFill>
                <a:latin typeface="Arial"/>
                <a:ea typeface="Arial"/>
                <a:cs typeface="Arial"/>
                <a:sym typeface="Arial"/>
              </a:rPr>
              <a:t>Please  add your credly certificate </a:t>
            </a:r>
            <a:endParaRPr/>
          </a:p>
        </p:txBody>
      </p:sp>
      <p:pic>
        <p:nvPicPr>
          <p:cNvPr id="4" name="Picture 3">
            <a:extLst>
              <a:ext uri="{FF2B5EF4-FFF2-40B4-BE49-F238E27FC236}">
                <a16:creationId xmlns:a16="http://schemas.microsoft.com/office/drawing/2014/main" id="{3430A4CE-0EC2-508A-5959-DEE648138D85}"/>
              </a:ext>
            </a:extLst>
          </p:cNvPr>
          <p:cNvPicPr>
            <a:picLocks noChangeAspect="1"/>
          </p:cNvPicPr>
          <p:nvPr/>
        </p:nvPicPr>
        <p:blipFill>
          <a:blip r:embed="rId3"/>
          <a:stretch>
            <a:fillRect/>
          </a:stretch>
        </p:blipFill>
        <p:spPr>
          <a:xfrm>
            <a:off x="2101516" y="1695961"/>
            <a:ext cx="7698125" cy="453744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3F26832A-DF8A-9E4D-618C-7330CE9A5892}"/>
              </a:ext>
            </a:extLst>
          </p:cNvPr>
          <p:cNvPicPr>
            <a:picLocks noChangeAspect="1"/>
          </p:cNvPicPr>
          <p:nvPr/>
        </p:nvPicPr>
        <p:blipFill>
          <a:blip r:embed="rId3"/>
          <a:stretch>
            <a:fillRect/>
          </a:stretch>
        </p:blipFill>
        <p:spPr>
          <a:xfrm>
            <a:off x="1925053" y="1620253"/>
            <a:ext cx="9173910" cy="48874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1189</Words>
  <Application>Microsoft Office PowerPoint</Application>
  <PresentationFormat>Widescreen</PresentationFormat>
  <Paragraphs>101</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Sisira TS</cp:lastModifiedBy>
  <cp:revision>1</cp:revision>
  <dcterms:created xsi:type="dcterms:W3CDTF">2025-07-08T05:06:56Z</dcterms:created>
  <dcterms:modified xsi:type="dcterms:W3CDTF">2026-07-04T17:18:33Z</dcterms:modified>
</cp:coreProperties>
</file>